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3" r:id="rId7"/>
    <p:sldId id="261" r:id="rId8"/>
    <p:sldId id="262" r:id="rId9"/>
  </p:sldIdLst>
  <p:sldSz cx="18288000" cy="10287000"/>
  <p:notesSz cx="6858000" cy="9144000"/>
  <p:embeddedFontLst>
    <p:embeddedFont>
      <p:font typeface="Arimo Italics" panose="020B0604020202020204" charset="0"/>
      <p:regular r:id="rId10"/>
    </p:embeddedFont>
    <p:embeddedFont>
      <p:font typeface="Didact Gothic" panose="00000500000000000000" pitchFamily="2" charset="0"/>
      <p:regular r:id="rId11"/>
    </p:embeddedFont>
    <p:embeddedFont>
      <p:font typeface="Poppins Bold" panose="020B0604020202020204" charset="0"/>
      <p:regular r:id="rId12"/>
    </p:embeddedFont>
    <p:embeddedFont>
      <p:font typeface="TT Norms" panose="020B0604020202020204" charset="0"/>
      <p:regular r:id="rId13"/>
    </p:embeddedFont>
    <p:embeddedFont>
      <p:font typeface="TT Norm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2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3.png"/><Relationship Id="rId4" Type="http://schemas.openxmlformats.org/officeDocument/2006/relationships/image" Target="../media/image6.sv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D1FF">
                    <a:alpha val="82000"/>
                  </a:srgbClr>
                </a:gs>
                <a:gs pos="50000">
                  <a:srgbClr val="001496">
                    <a:alpha val="82000"/>
                  </a:srgbClr>
                </a:gs>
                <a:gs pos="100000">
                  <a:srgbClr val="000F70">
                    <a:alpha val="82000"/>
                  </a:srgbClr>
                </a:gs>
              </a:gsLst>
              <a:path path="circle">
                <a:fillToRect l="50000" t="50000" r="50000" b="50000"/>
              </a:path>
            </a:gradFill>
          </p:spPr>
          <p:txBody>
            <a:bodyPr/>
            <a:lstStyle/>
            <a:p>
              <a:endParaRPr lang="en-PH"/>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5594739" y="1594239"/>
            <a:ext cx="7098522" cy="7098522"/>
          </a:xfrm>
          <a:custGeom>
            <a:avLst/>
            <a:gdLst/>
            <a:ahLst/>
            <a:cxnLst/>
            <a:rect l="l" t="t" r="r" b="b"/>
            <a:pathLst>
              <a:path w="7098522" h="7098522">
                <a:moveTo>
                  <a:pt x="0" y="0"/>
                </a:moveTo>
                <a:lnTo>
                  <a:pt x="7098522" y="0"/>
                </a:lnTo>
                <a:lnTo>
                  <a:pt x="7098522" y="7098522"/>
                </a:lnTo>
                <a:lnTo>
                  <a:pt x="0" y="7098522"/>
                </a:lnTo>
                <a:lnTo>
                  <a:pt x="0" y="0"/>
                </a:lnTo>
                <a:close/>
              </a:path>
            </a:pathLst>
          </a:custGeom>
          <a:blipFill>
            <a:blip r:embed="rId3">
              <a:alphaModFix amt="34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TextBox 7"/>
          <p:cNvSpPr txBox="1"/>
          <p:nvPr/>
        </p:nvSpPr>
        <p:spPr>
          <a:xfrm>
            <a:off x="2278626" y="2311654"/>
            <a:ext cx="13730749" cy="2991485"/>
          </a:xfrm>
          <a:prstGeom prst="rect">
            <a:avLst/>
          </a:prstGeom>
        </p:spPr>
        <p:txBody>
          <a:bodyPr lIns="0" tIns="0" rIns="0" bIns="0" rtlCol="0" anchor="t">
            <a:spAutoFit/>
          </a:bodyPr>
          <a:lstStyle/>
          <a:p>
            <a:pPr algn="ctr">
              <a:lnSpc>
                <a:spcPts val="7840"/>
              </a:lnSpc>
            </a:pPr>
            <a:r>
              <a:rPr lang="en-US" sz="5600" b="1" dirty="0">
                <a:solidFill>
                  <a:srgbClr val="FFFFFF"/>
                </a:solidFill>
                <a:latin typeface="Poppins Bold"/>
                <a:ea typeface="Poppins Bold"/>
                <a:cs typeface="Poppins Bold"/>
                <a:sym typeface="Poppins Bold"/>
              </a:rPr>
              <a:t>Using Clustering and PCA to Predict TV Show Attributes from Visual Features of Posters</a:t>
            </a:r>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0" name="TextBox 10"/>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METHODOLOGY</a:t>
            </a:r>
          </a:p>
        </p:txBody>
      </p:sp>
      <p:sp>
        <p:nvSpPr>
          <p:cNvPr id="11" name="TextBox 11"/>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RESULTS AND DISCUSSION</a:t>
            </a:r>
          </a:p>
        </p:txBody>
      </p:sp>
      <p:sp>
        <p:nvSpPr>
          <p:cNvPr id="12" name="TextBox 12"/>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b="1">
                <a:solidFill>
                  <a:srgbClr val="FFFFFF"/>
                </a:solidFill>
                <a:latin typeface="TT Norms Bold"/>
                <a:ea typeface="TT Norms Bold"/>
                <a:cs typeface="TT Norms Bold"/>
                <a:sym typeface="TT Norms Bold"/>
              </a:rPr>
              <a:t>INTRODUCTION</a:t>
            </a:r>
          </a:p>
        </p:txBody>
      </p:sp>
      <p:sp>
        <p:nvSpPr>
          <p:cNvPr id="13" name="TextBox 13"/>
          <p:cNvSpPr txBox="1"/>
          <p:nvPr/>
        </p:nvSpPr>
        <p:spPr>
          <a:xfrm>
            <a:off x="3711543" y="6979202"/>
            <a:ext cx="11299575" cy="485775"/>
          </a:xfrm>
          <a:prstGeom prst="rect">
            <a:avLst/>
          </a:prstGeom>
        </p:spPr>
        <p:txBody>
          <a:bodyPr lIns="0" tIns="0" rIns="0" bIns="0" rtlCol="0" anchor="t">
            <a:spAutoFit/>
          </a:bodyPr>
          <a:lstStyle/>
          <a:p>
            <a:pPr algn="ctr">
              <a:lnSpc>
                <a:spcPts val="3840"/>
              </a:lnSpc>
            </a:pPr>
            <a:r>
              <a:rPr lang="en-US" sz="3200" dirty="0">
                <a:solidFill>
                  <a:srgbClr val="FFFFFF"/>
                </a:solidFill>
                <a:latin typeface="Didact Gothic"/>
                <a:ea typeface="Didact Gothic"/>
                <a:cs typeface="Didact Gothic"/>
                <a:sym typeface="Didact Gothic"/>
              </a:rPr>
              <a:t>National University - Manila</a:t>
            </a:r>
          </a:p>
        </p:txBody>
      </p:sp>
      <p:sp>
        <p:nvSpPr>
          <p:cNvPr id="14" name="TextBox 14"/>
          <p:cNvSpPr txBox="1"/>
          <p:nvPr/>
        </p:nvSpPr>
        <p:spPr>
          <a:xfrm>
            <a:off x="3711543" y="7941227"/>
            <a:ext cx="11299575" cy="485775"/>
          </a:xfrm>
          <a:prstGeom prst="rect">
            <a:avLst/>
          </a:prstGeom>
        </p:spPr>
        <p:txBody>
          <a:bodyPr lIns="0" tIns="0" rIns="0" bIns="0" rtlCol="0" anchor="t">
            <a:spAutoFit/>
          </a:bodyPr>
          <a:lstStyle/>
          <a:p>
            <a:pPr algn="ctr">
              <a:lnSpc>
                <a:spcPts val="3840"/>
              </a:lnSpc>
            </a:pPr>
            <a:r>
              <a:rPr lang="en-US" sz="3200">
                <a:solidFill>
                  <a:srgbClr val="FFFFFF"/>
                </a:solidFill>
                <a:latin typeface="Didact Gothic"/>
                <a:ea typeface="Didact Gothic"/>
                <a:cs typeface="Didact Gothic"/>
                <a:sym typeface="Didact Gothic"/>
              </a:rPr>
              <a:t>Renaire Odarve                        Karl Satchi Navida</a:t>
            </a:r>
          </a:p>
        </p:txBody>
      </p:sp>
      <p:sp>
        <p:nvSpPr>
          <p:cNvPr id="15" name="TextBox 15"/>
          <p:cNvSpPr txBox="1"/>
          <p:nvPr/>
        </p:nvSpPr>
        <p:spPr>
          <a:xfrm>
            <a:off x="3307735" y="8743950"/>
            <a:ext cx="11486053" cy="514350"/>
          </a:xfrm>
          <a:prstGeom prst="rect">
            <a:avLst/>
          </a:prstGeom>
        </p:spPr>
        <p:txBody>
          <a:bodyPr lIns="0" tIns="0" rIns="0" bIns="0" rtlCol="0" anchor="t">
            <a:spAutoFit/>
          </a:bodyPr>
          <a:lstStyle/>
          <a:p>
            <a:pPr algn="ctr">
              <a:lnSpc>
                <a:spcPts val="3840"/>
              </a:lnSpc>
            </a:pPr>
            <a:r>
              <a:rPr lang="en-US" sz="3200" i="1">
                <a:solidFill>
                  <a:srgbClr val="FFFFFF"/>
                </a:solidFill>
                <a:latin typeface="Arimo Italics"/>
                <a:ea typeface="Arimo Italics"/>
                <a:cs typeface="Arimo Italics"/>
                <a:sym typeface="Arimo Italics"/>
              </a:rPr>
              <a:t>Bachelor of Science in Computer Science: Machine - Learning</a:t>
            </a:r>
          </a:p>
        </p:txBody>
      </p:sp>
      <p:sp>
        <p:nvSpPr>
          <p:cNvPr id="16" name="TextBox 16"/>
          <p:cNvSpPr txBox="1"/>
          <p:nvPr/>
        </p:nvSpPr>
        <p:spPr>
          <a:xfrm>
            <a:off x="3708848" y="9443247"/>
            <a:ext cx="10899812" cy="438150"/>
          </a:xfrm>
          <a:prstGeom prst="rect">
            <a:avLst/>
          </a:prstGeom>
        </p:spPr>
        <p:txBody>
          <a:bodyPr lIns="0" tIns="0" rIns="0" bIns="0" rtlCol="0" anchor="t">
            <a:spAutoFit/>
          </a:bodyPr>
          <a:lstStyle/>
          <a:p>
            <a:pPr algn="ctr">
              <a:lnSpc>
                <a:spcPts val="3359"/>
              </a:lnSpc>
            </a:pPr>
            <a:r>
              <a:rPr lang="en-US" sz="2799" i="1">
                <a:solidFill>
                  <a:srgbClr val="FFFFFF"/>
                </a:solidFill>
                <a:latin typeface="Arimo Italics"/>
                <a:ea typeface="Arimo Italics"/>
                <a:cs typeface="Arimo Italics"/>
                <a:sym typeface="Arimo Italics"/>
              </a:rPr>
              <a:t>Advance Machine Learning, Finals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sp>
        <p:nvSpPr>
          <p:cNvPr id="6" name="Freeform 6"/>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b="1">
                <a:solidFill>
                  <a:srgbClr val="FFFFFF"/>
                </a:solidFill>
                <a:latin typeface="TT Norms Bold"/>
                <a:ea typeface="TT Norms Bold"/>
                <a:cs typeface="TT Norms Bold"/>
                <a:sym typeface="TT Norms Bold"/>
              </a:rPr>
              <a:t>INTRODUCTION</a:t>
            </a:r>
          </a:p>
        </p:txBody>
      </p:sp>
      <p:sp>
        <p:nvSpPr>
          <p:cNvPr id="10" name="TextBox 10"/>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METHODOLOGY</a:t>
            </a:r>
          </a:p>
        </p:txBody>
      </p:sp>
      <p:sp>
        <p:nvSpPr>
          <p:cNvPr id="11" name="TextBox 11"/>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RESULTS AND DISCUSSION</a:t>
            </a:r>
          </a:p>
        </p:txBody>
      </p:sp>
      <p:sp>
        <p:nvSpPr>
          <p:cNvPr id="12" name="TextBox 12"/>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3" name="TextBox 11">
            <a:extLst>
              <a:ext uri="{FF2B5EF4-FFF2-40B4-BE49-F238E27FC236}">
                <a16:creationId xmlns:a16="http://schemas.microsoft.com/office/drawing/2014/main" id="{1D5D9A35-A04F-C0E3-1A5C-D2B5678DC7E9}"/>
              </a:ext>
            </a:extLst>
          </p:cNvPr>
          <p:cNvSpPr txBox="1"/>
          <p:nvPr/>
        </p:nvSpPr>
        <p:spPr>
          <a:xfrm>
            <a:off x="5646835" y="2506493"/>
            <a:ext cx="6994330" cy="423193"/>
          </a:xfrm>
          <a:prstGeom prst="rect">
            <a:avLst/>
          </a:prstGeom>
        </p:spPr>
        <p:txBody>
          <a:bodyPr wrap="square" lIns="0" tIns="0" rIns="0" bIns="0" rtlCol="0" anchor="t">
            <a:spAutoFit/>
          </a:bodyPr>
          <a:lstStyle/>
          <a:p>
            <a:pPr algn="ctr">
              <a:lnSpc>
                <a:spcPts val="2800"/>
              </a:lnSpc>
            </a:pPr>
            <a:r>
              <a:rPr lang="en-US" sz="4000" b="1" dirty="0">
                <a:solidFill>
                  <a:srgbClr val="FFFFFF"/>
                </a:solidFill>
                <a:latin typeface="TT Norms Bold"/>
                <a:ea typeface="TT Norms Bold"/>
                <a:cs typeface="TT Norms Bold"/>
                <a:sym typeface="TT Norms Bold"/>
              </a:rPr>
              <a:t>Introduction</a:t>
            </a:r>
          </a:p>
        </p:txBody>
      </p:sp>
      <p:sp>
        <p:nvSpPr>
          <p:cNvPr id="14" name="TextBox 7">
            <a:extLst>
              <a:ext uri="{FF2B5EF4-FFF2-40B4-BE49-F238E27FC236}">
                <a16:creationId xmlns:a16="http://schemas.microsoft.com/office/drawing/2014/main" id="{E9EFA2BF-BE80-F3FD-BCAB-3877B806C80E}"/>
              </a:ext>
            </a:extLst>
          </p:cNvPr>
          <p:cNvSpPr txBox="1"/>
          <p:nvPr/>
        </p:nvSpPr>
        <p:spPr>
          <a:xfrm>
            <a:off x="2278623" y="3012165"/>
            <a:ext cx="13730749" cy="4880567"/>
          </a:xfrm>
          <a:prstGeom prst="rect">
            <a:avLst/>
          </a:prstGeom>
        </p:spPr>
        <p:txBody>
          <a:bodyPr lIns="0" tIns="0" rIns="0" bIns="0" rtlCol="0" anchor="t">
            <a:spAutoFit/>
          </a:bodyPr>
          <a:lstStyle/>
          <a:p>
            <a:pPr algn="ctr">
              <a:lnSpc>
                <a:spcPts val="7840"/>
              </a:lnSpc>
            </a:pPr>
            <a:r>
              <a:rPr lang="en-US" sz="3600" b="1" dirty="0">
                <a:solidFill>
                  <a:srgbClr val="FFFFFF"/>
                </a:solidFill>
                <a:latin typeface="Poppins Bold"/>
                <a:ea typeface="Poppins Bold"/>
                <a:cs typeface="Poppins Bold"/>
                <a:sym typeface="Poppins Bold"/>
              </a:rPr>
              <a:t>Based on the study, it can be concluded that mapping on  clusters is not an effective tool in predicting genres on TV show posters. However, machine learning using PCA and clustering algorithms can give patterns that are useful  for trend and market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txBody>
            <a:bodyPr/>
            <a:lstStyle/>
            <a:p>
              <a:endParaRPr lang="en-PH"/>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INTRODUCTION</a:t>
            </a:r>
          </a:p>
        </p:txBody>
      </p:sp>
      <p:sp>
        <p:nvSpPr>
          <p:cNvPr id="10" name="TextBox 10"/>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b="1">
                <a:solidFill>
                  <a:srgbClr val="FFFFFF"/>
                </a:solidFill>
                <a:latin typeface="TT Norms Bold"/>
                <a:ea typeface="TT Norms Bold"/>
                <a:cs typeface="TT Norms Bold"/>
                <a:sym typeface="TT Norms Bold"/>
              </a:rPr>
              <a:t>METHODOLOGY</a:t>
            </a:r>
          </a:p>
        </p:txBody>
      </p:sp>
      <p:sp>
        <p:nvSpPr>
          <p:cNvPr id="11" name="TextBox 11"/>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RESULTS AND DISCUSSION</a:t>
            </a:r>
          </a:p>
        </p:txBody>
      </p:sp>
      <p:sp>
        <p:nvSpPr>
          <p:cNvPr id="12" name="TextBox 12"/>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3" name="TextBox 11">
            <a:extLst>
              <a:ext uri="{FF2B5EF4-FFF2-40B4-BE49-F238E27FC236}">
                <a16:creationId xmlns:a16="http://schemas.microsoft.com/office/drawing/2014/main" id="{3A1C1812-ED85-7ECB-954C-A48510DC94D0}"/>
              </a:ext>
            </a:extLst>
          </p:cNvPr>
          <p:cNvSpPr txBox="1"/>
          <p:nvPr/>
        </p:nvSpPr>
        <p:spPr>
          <a:xfrm>
            <a:off x="5730886" y="2479454"/>
            <a:ext cx="6994330" cy="423193"/>
          </a:xfrm>
          <a:prstGeom prst="rect">
            <a:avLst/>
          </a:prstGeom>
        </p:spPr>
        <p:txBody>
          <a:bodyPr wrap="square" lIns="0" tIns="0" rIns="0" bIns="0" rtlCol="0" anchor="t">
            <a:spAutoFit/>
          </a:bodyPr>
          <a:lstStyle/>
          <a:p>
            <a:pPr algn="ctr">
              <a:lnSpc>
                <a:spcPts val="2800"/>
              </a:lnSpc>
            </a:pPr>
            <a:r>
              <a:rPr lang="en-US" sz="4000" b="1" dirty="0">
                <a:solidFill>
                  <a:srgbClr val="FFFFFF"/>
                </a:solidFill>
                <a:latin typeface="TT Norms Bold"/>
                <a:ea typeface="TT Norms Bold"/>
                <a:cs typeface="TT Norms Bold"/>
                <a:sym typeface="TT Norms Bold"/>
              </a:rPr>
              <a:t>Methodology</a:t>
            </a:r>
          </a:p>
        </p:txBody>
      </p:sp>
      <p:sp>
        <p:nvSpPr>
          <p:cNvPr id="14" name="TextBox 7">
            <a:extLst>
              <a:ext uri="{FF2B5EF4-FFF2-40B4-BE49-F238E27FC236}">
                <a16:creationId xmlns:a16="http://schemas.microsoft.com/office/drawing/2014/main" id="{F6AB5E9D-BFEA-0B7B-25FD-C5459613EF92}"/>
              </a:ext>
            </a:extLst>
          </p:cNvPr>
          <p:cNvSpPr txBox="1"/>
          <p:nvPr/>
        </p:nvSpPr>
        <p:spPr>
          <a:xfrm>
            <a:off x="2278623" y="3012165"/>
            <a:ext cx="13730749" cy="4880567"/>
          </a:xfrm>
          <a:prstGeom prst="rect">
            <a:avLst/>
          </a:prstGeom>
        </p:spPr>
        <p:txBody>
          <a:bodyPr lIns="0" tIns="0" rIns="0" bIns="0" rtlCol="0" anchor="t">
            <a:spAutoFit/>
          </a:bodyPr>
          <a:lstStyle/>
          <a:p>
            <a:pPr algn="ctr">
              <a:lnSpc>
                <a:spcPts val="7840"/>
              </a:lnSpc>
            </a:pPr>
            <a:r>
              <a:rPr lang="en-US" sz="3600" b="1" dirty="0">
                <a:solidFill>
                  <a:srgbClr val="FFFFFF"/>
                </a:solidFill>
                <a:latin typeface="Poppins Bold"/>
                <a:ea typeface="Poppins Bold"/>
                <a:cs typeface="Poppins Bold"/>
                <a:sym typeface="Poppins Bold"/>
              </a:rPr>
              <a:t>Based on the study, it can be concluded that mapping on  clusters is not an effective tool in predicting genres on TV show posters. However, machine learning using PCA and clustering algorithms can give patterns that are useful  for trend and market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txBody>
            <a:bodyPr/>
            <a:lstStyle/>
            <a:p>
              <a:endParaRPr lang="en-PH"/>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INTRODUCTION</a:t>
            </a:r>
          </a:p>
        </p:txBody>
      </p:sp>
      <p:sp>
        <p:nvSpPr>
          <p:cNvPr id="10" name="TextBox 10"/>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b="1">
                <a:solidFill>
                  <a:srgbClr val="FFFFFF"/>
                </a:solidFill>
                <a:latin typeface="TT Norms Bold"/>
                <a:ea typeface="TT Norms Bold"/>
                <a:cs typeface="TT Norms Bold"/>
                <a:sym typeface="TT Norms Bold"/>
              </a:rPr>
              <a:t>METHODOLOGY</a:t>
            </a:r>
          </a:p>
        </p:txBody>
      </p:sp>
      <p:sp>
        <p:nvSpPr>
          <p:cNvPr id="11" name="TextBox 11"/>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RESULTS AND DISCUSSION</a:t>
            </a:r>
          </a:p>
        </p:txBody>
      </p:sp>
      <p:sp>
        <p:nvSpPr>
          <p:cNvPr id="12" name="TextBox 12"/>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3" name="TextBox 7">
            <a:extLst>
              <a:ext uri="{FF2B5EF4-FFF2-40B4-BE49-F238E27FC236}">
                <a16:creationId xmlns:a16="http://schemas.microsoft.com/office/drawing/2014/main" id="{15F22026-E7CF-15C8-F5B1-C18CB6EA7E90}"/>
              </a:ext>
            </a:extLst>
          </p:cNvPr>
          <p:cNvSpPr txBox="1"/>
          <p:nvPr/>
        </p:nvSpPr>
        <p:spPr>
          <a:xfrm>
            <a:off x="2278623" y="3012165"/>
            <a:ext cx="13730749" cy="4880567"/>
          </a:xfrm>
          <a:prstGeom prst="rect">
            <a:avLst/>
          </a:prstGeom>
        </p:spPr>
        <p:txBody>
          <a:bodyPr lIns="0" tIns="0" rIns="0" bIns="0" rtlCol="0" anchor="t">
            <a:spAutoFit/>
          </a:bodyPr>
          <a:lstStyle/>
          <a:p>
            <a:pPr algn="ctr">
              <a:lnSpc>
                <a:spcPts val="7840"/>
              </a:lnSpc>
            </a:pPr>
            <a:r>
              <a:rPr lang="en-US" sz="3600" b="1" dirty="0">
                <a:solidFill>
                  <a:srgbClr val="FFFFFF"/>
                </a:solidFill>
                <a:latin typeface="Poppins Bold"/>
                <a:ea typeface="Poppins Bold"/>
                <a:cs typeface="Poppins Bold"/>
                <a:sym typeface="Poppins Bold"/>
              </a:rPr>
              <a:t>Based on the study, it can be concluded that mapping on  clusters is not an effective tool in predicting genres on TV show posters. However, machine learning using PCA and clustering algorithms can give patterns that are useful  for trend and market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sp>
        <p:nvSpPr>
          <p:cNvPr id="6" name="Freeform 6"/>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dirty="0">
                <a:solidFill>
                  <a:srgbClr val="FFFFFF"/>
                </a:solidFill>
                <a:latin typeface="TT Norms" panose="020B0604020202020204" charset="0"/>
                <a:ea typeface="TT Norms Bold"/>
                <a:cs typeface="TT Norms Bold"/>
                <a:sym typeface="TT Norms Bold"/>
              </a:rPr>
              <a:t>INTRODUCTION</a:t>
            </a:r>
          </a:p>
        </p:txBody>
      </p:sp>
      <p:sp>
        <p:nvSpPr>
          <p:cNvPr id="10" name="TextBox 10"/>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dirty="0">
                <a:solidFill>
                  <a:srgbClr val="FFFFFF"/>
                </a:solidFill>
                <a:latin typeface="TT Norms"/>
                <a:ea typeface="TT Norms"/>
                <a:cs typeface="TT Norms"/>
                <a:sym typeface="TT Norms"/>
              </a:rPr>
              <a:t>METHODOLOGY</a:t>
            </a:r>
          </a:p>
        </p:txBody>
      </p:sp>
      <p:sp>
        <p:nvSpPr>
          <p:cNvPr id="11" name="TextBox 11"/>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b="1" dirty="0">
                <a:solidFill>
                  <a:srgbClr val="FFFFFF"/>
                </a:solidFill>
                <a:latin typeface="TT Norms Bold"/>
                <a:ea typeface="TT Norms Bold"/>
                <a:cs typeface="TT Norms Bold"/>
                <a:sym typeface="TT Norms Bold"/>
              </a:rPr>
              <a:t>RESULTS AND DISCUSSION</a:t>
            </a:r>
          </a:p>
        </p:txBody>
      </p:sp>
      <p:sp>
        <p:nvSpPr>
          <p:cNvPr id="12" name="TextBox 12"/>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5" name="TextBox 11">
            <a:extLst>
              <a:ext uri="{FF2B5EF4-FFF2-40B4-BE49-F238E27FC236}">
                <a16:creationId xmlns:a16="http://schemas.microsoft.com/office/drawing/2014/main" id="{F5E8EF46-F109-DBF9-D3AC-A0614E0D561D}"/>
              </a:ext>
            </a:extLst>
          </p:cNvPr>
          <p:cNvSpPr txBox="1"/>
          <p:nvPr/>
        </p:nvSpPr>
        <p:spPr>
          <a:xfrm>
            <a:off x="2149670" y="4057330"/>
            <a:ext cx="6994330" cy="377026"/>
          </a:xfrm>
          <a:prstGeom prst="rect">
            <a:avLst/>
          </a:prstGeom>
        </p:spPr>
        <p:txBody>
          <a:bodyPr wrap="square" lIns="0" tIns="0" rIns="0" bIns="0" rtlCol="0" anchor="t">
            <a:spAutoFit/>
          </a:bodyPr>
          <a:lstStyle/>
          <a:p>
            <a:pPr algn="ctr">
              <a:lnSpc>
                <a:spcPts val="2800"/>
              </a:lnSpc>
            </a:pPr>
            <a:r>
              <a:rPr lang="en-US" sz="2800" b="1" dirty="0">
                <a:solidFill>
                  <a:srgbClr val="FFFFFF"/>
                </a:solidFill>
                <a:latin typeface="TT Norms Bold"/>
                <a:ea typeface="TT Norms Bold"/>
                <a:cs typeface="TT Norms Bold"/>
                <a:sym typeface="TT Norms Bold"/>
              </a:rPr>
              <a:t>Explained Variance Ratio</a:t>
            </a:r>
          </a:p>
        </p:txBody>
      </p:sp>
      <p:sp>
        <p:nvSpPr>
          <p:cNvPr id="17" name="TextBox 11">
            <a:extLst>
              <a:ext uri="{FF2B5EF4-FFF2-40B4-BE49-F238E27FC236}">
                <a16:creationId xmlns:a16="http://schemas.microsoft.com/office/drawing/2014/main" id="{BCEBDA8D-F74D-C28D-A01C-8150026F2970}"/>
              </a:ext>
            </a:extLst>
          </p:cNvPr>
          <p:cNvSpPr txBox="1"/>
          <p:nvPr/>
        </p:nvSpPr>
        <p:spPr>
          <a:xfrm>
            <a:off x="9597113" y="4040588"/>
            <a:ext cx="6994330" cy="377026"/>
          </a:xfrm>
          <a:prstGeom prst="rect">
            <a:avLst/>
          </a:prstGeom>
        </p:spPr>
        <p:txBody>
          <a:bodyPr wrap="square" lIns="0" tIns="0" rIns="0" bIns="0" rtlCol="0" anchor="t">
            <a:spAutoFit/>
          </a:bodyPr>
          <a:lstStyle/>
          <a:p>
            <a:pPr algn="ctr">
              <a:lnSpc>
                <a:spcPts val="2800"/>
              </a:lnSpc>
            </a:pPr>
            <a:r>
              <a:rPr lang="en-US" sz="2800" b="1" dirty="0">
                <a:solidFill>
                  <a:srgbClr val="FFFFFF"/>
                </a:solidFill>
                <a:latin typeface="TT Norms Bold"/>
                <a:ea typeface="TT Norms Bold"/>
                <a:cs typeface="TT Norms Bold"/>
                <a:sym typeface="TT Norms Bold"/>
              </a:rPr>
              <a:t>Feature Loadings</a:t>
            </a:r>
          </a:p>
        </p:txBody>
      </p:sp>
      <p:pic>
        <p:nvPicPr>
          <p:cNvPr id="23" name="Picture 22">
            <a:extLst>
              <a:ext uri="{FF2B5EF4-FFF2-40B4-BE49-F238E27FC236}">
                <a16:creationId xmlns:a16="http://schemas.microsoft.com/office/drawing/2014/main" id="{083C469D-8953-E7FE-BAA5-FEF22719A6CB}"/>
              </a:ext>
            </a:extLst>
          </p:cNvPr>
          <p:cNvPicPr>
            <a:picLocks noChangeAspect="1"/>
          </p:cNvPicPr>
          <p:nvPr/>
        </p:nvPicPr>
        <p:blipFill>
          <a:blip r:embed="rId7"/>
          <a:stretch>
            <a:fillRect/>
          </a:stretch>
        </p:blipFill>
        <p:spPr>
          <a:xfrm>
            <a:off x="9448800" y="4719131"/>
            <a:ext cx="7115604" cy="3425694"/>
          </a:xfrm>
          <a:prstGeom prst="rect">
            <a:avLst/>
          </a:prstGeom>
        </p:spPr>
      </p:pic>
      <p:pic>
        <p:nvPicPr>
          <p:cNvPr id="25" name="Picture 24">
            <a:extLst>
              <a:ext uri="{FF2B5EF4-FFF2-40B4-BE49-F238E27FC236}">
                <a16:creationId xmlns:a16="http://schemas.microsoft.com/office/drawing/2014/main" id="{4CA93126-AF53-4940-67EA-9859ABB621A7}"/>
              </a:ext>
            </a:extLst>
          </p:cNvPr>
          <p:cNvPicPr>
            <a:picLocks noChangeAspect="1"/>
          </p:cNvPicPr>
          <p:nvPr/>
        </p:nvPicPr>
        <p:blipFill>
          <a:blip r:embed="rId8"/>
          <a:stretch>
            <a:fillRect/>
          </a:stretch>
        </p:blipFill>
        <p:spPr>
          <a:xfrm>
            <a:off x="2028396" y="4719132"/>
            <a:ext cx="7115604" cy="3406824"/>
          </a:xfrm>
          <a:prstGeom prst="rect">
            <a:avLst/>
          </a:prstGeom>
        </p:spPr>
      </p:pic>
      <p:sp>
        <p:nvSpPr>
          <p:cNvPr id="26" name="TextBox 11">
            <a:extLst>
              <a:ext uri="{FF2B5EF4-FFF2-40B4-BE49-F238E27FC236}">
                <a16:creationId xmlns:a16="http://schemas.microsoft.com/office/drawing/2014/main" id="{85AD72A9-6935-E525-64F4-9144225753F9}"/>
              </a:ext>
            </a:extLst>
          </p:cNvPr>
          <p:cNvSpPr txBox="1"/>
          <p:nvPr/>
        </p:nvSpPr>
        <p:spPr>
          <a:xfrm>
            <a:off x="5735802" y="2666188"/>
            <a:ext cx="6994330" cy="438582"/>
          </a:xfrm>
          <a:prstGeom prst="rect">
            <a:avLst/>
          </a:prstGeom>
        </p:spPr>
        <p:txBody>
          <a:bodyPr wrap="square" lIns="0" tIns="0" rIns="0" bIns="0" rtlCol="0" anchor="t">
            <a:spAutoFit/>
          </a:bodyPr>
          <a:lstStyle/>
          <a:p>
            <a:pPr algn="ctr">
              <a:lnSpc>
                <a:spcPts val="2800"/>
              </a:lnSpc>
            </a:pPr>
            <a:r>
              <a:rPr lang="en-US" sz="4400" b="1" dirty="0">
                <a:solidFill>
                  <a:srgbClr val="FFFFFF"/>
                </a:solidFill>
                <a:latin typeface="TT Norms Bold"/>
                <a:ea typeface="TT Norms Bold"/>
                <a:cs typeface="TT Norms Bold"/>
                <a:sym typeface="TT Norms Bold"/>
              </a:rPr>
              <a:t>Results and Discussion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6074-420E-712B-3C21-F54D4B06B01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7587BF-5251-B28C-4FBD-36D8A0B34FA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grpSp>
        <p:nvGrpSpPr>
          <p:cNvPr id="3" name="Group 3">
            <a:extLst>
              <a:ext uri="{FF2B5EF4-FFF2-40B4-BE49-F238E27FC236}">
                <a16:creationId xmlns:a16="http://schemas.microsoft.com/office/drawing/2014/main" id="{31357DEF-6D4A-577D-1C2B-7B218DF773C0}"/>
              </a:ext>
            </a:extLst>
          </p:cNvPr>
          <p:cNvGrpSpPr/>
          <p:nvPr/>
        </p:nvGrpSpPr>
        <p:grpSpPr>
          <a:xfrm>
            <a:off x="0" y="-131915"/>
            <a:ext cx="18295381" cy="10431661"/>
            <a:chOff x="0" y="-38100"/>
            <a:chExt cx="4818537" cy="2747433"/>
          </a:xfrm>
        </p:grpSpPr>
        <p:sp>
          <p:nvSpPr>
            <p:cNvPr id="4" name="Freeform 4">
              <a:extLst>
                <a:ext uri="{FF2B5EF4-FFF2-40B4-BE49-F238E27FC236}">
                  <a16:creationId xmlns:a16="http://schemas.microsoft.com/office/drawing/2014/main" id="{D8FDD214-A772-91C2-A35C-3F90BAA3DCBD}"/>
                </a:ext>
              </a:extLst>
            </p:cNvPr>
            <p:cNvSpPr/>
            <p:nvPr/>
          </p:nvSpPr>
          <p:spPr>
            <a:xfrm>
              <a:off x="1945"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txBody>
            <a:bodyPr/>
            <a:lstStyle/>
            <a:p>
              <a:endParaRPr lang="en-PH" dirty="0"/>
            </a:p>
          </p:txBody>
        </p:sp>
        <p:sp>
          <p:nvSpPr>
            <p:cNvPr id="5" name="TextBox 5">
              <a:extLst>
                <a:ext uri="{FF2B5EF4-FFF2-40B4-BE49-F238E27FC236}">
                  <a16:creationId xmlns:a16="http://schemas.microsoft.com/office/drawing/2014/main" id="{135341A3-0BC6-19B8-4537-7070E5664E52}"/>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26435BB8-20D1-2150-4432-B211C4E1BA8E}"/>
              </a:ext>
            </a:extLst>
          </p:cNvPr>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a:extLst>
              <a:ext uri="{FF2B5EF4-FFF2-40B4-BE49-F238E27FC236}">
                <a16:creationId xmlns:a16="http://schemas.microsoft.com/office/drawing/2014/main" id="{929C4326-D5ED-DC14-AAC6-FE85E20926F2}"/>
              </a:ext>
            </a:extLst>
          </p:cNvPr>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a:extLst>
              <a:ext uri="{FF2B5EF4-FFF2-40B4-BE49-F238E27FC236}">
                <a16:creationId xmlns:a16="http://schemas.microsoft.com/office/drawing/2014/main" id="{45AC3052-FFCF-2D4F-0010-10F67FDC7063}"/>
              </a:ext>
            </a:extLst>
          </p:cNvPr>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a:extLst>
              <a:ext uri="{FF2B5EF4-FFF2-40B4-BE49-F238E27FC236}">
                <a16:creationId xmlns:a16="http://schemas.microsoft.com/office/drawing/2014/main" id="{DE44E216-5632-5231-9284-681F60C8A75E}"/>
              </a:ext>
            </a:extLst>
          </p:cNvPr>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dirty="0">
                <a:solidFill>
                  <a:srgbClr val="FFFFFF"/>
                </a:solidFill>
                <a:latin typeface="TT Norms" panose="020B0604020202020204" charset="0"/>
                <a:ea typeface="TT Norms Bold"/>
                <a:cs typeface="TT Norms Bold"/>
                <a:sym typeface="TT Norms Bold"/>
              </a:rPr>
              <a:t>INTRODUCTION</a:t>
            </a:r>
          </a:p>
        </p:txBody>
      </p:sp>
      <p:sp>
        <p:nvSpPr>
          <p:cNvPr id="10" name="TextBox 10">
            <a:extLst>
              <a:ext uri="{FF2B5EF4-FFF2-40B4-BE49-F238E27FC236}">
                <a16:creationId xmlns:a16="http://schemas.microsoft.com/office/drawing/2014/main" id="{7548D9E7-5E1C-1512-8E3E-28D66990BBFD}"/>
              </a:ext>
            </a:extLst>
          </p:cNvPr>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dirty="0">
                <a:solidFill>
                  <a:srgbClr val="FFFFFF"/>
                </a:solidFill>
                <a:latin typeface="TT Norms"/>
                <a:ea typeface="TT Norms"/>
                <a:cs typeface="TT Norms"/>
                <a:sym typeface="TT Norms"/>
              </a:rPr>
              <a:t>METHODOLOGY</a:t>
            </a:r>
          </a:p>
        </p:txBody>
      </p:sp>
      <p:sp>
        <p:nvSpPr>
          <p:cNvPr id="11" name="TextBox 11">
            <a:extLst>
              <a:ext uri="{FF2B5EF4-FFF2-40B4-BE49-F238E27FC236}">
                <a16:creationId xmlns:a16="http://schemas.microsoft.com/office/drawing/2014/main" id="{A093258A-9AA1-B6E2-1C92-DB4B6020A83E}"/>
              </a:ext>
            </a:extLst>
          </p:cNvPr>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b="1" dirty="0">
                <a:solidFill>
                  <a:srgbClr val="FFFFFF"/>
                </a:solidFill>
                <a:latin typeface="TT Norms Bold"/>
                <a:ea typeface="TT Norms Bold"/>
                <a:cs typeface="TT Norms Bold"/>
                <a:sym typeface="TT Norms Bold"/>
              </a:rPr>
              <a:t>RESULTS AND DISCUSSION</a:t>
            </a:r>
          </a:p>
        </p:txBody>
      </p:sp>
      <p:sp>
        <p:nvSpPr>
          <p:cNvPr id="12" name="TextBox 12">
            <a:extLst>
              <a:ext uri="{FF2B5EF4-FFF2-40B4-BE49-F238E27FC236}">
                <a16:creationId xmlns:a16="http://schemas.microsoft.com/office/drawing/2014/main" id="{90AEC428-050F-8644-C140-8688BC6A4480}"/>
              </a:ext>
            </a:extLst>
          </p:cNvPr>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3" name="Freeform 13">
            <a:extLst>
              <a:ext uri="{FF2B5EF4-FFF2-40B4-BE49-F238E27FC236}">
                <a16:creationId xmlns:a16="http://schemas.microsoft.com/office/drawing/2014/main" id="{B4402EE0-8784-C42D-EF33-8E07C2AD4053}"/>
              </a:ext>
            </a:extLst>
          </p:cNvPr>
          <p:cNvSpPr/>
          <p:nvPr/>
        </p:nvSpPr>
        <p:spPr>
          <a:xfrm>
            <a:off x="3278180" y="2952648"/>
            <a:ext cx="12920282" cy="6686645"/>
          </a:xfrm>
          <a:custGeom>
            <a:avLst/>
            <a:gdLst/>
            <a:ahLst/>
            <a:cxnLst/>
            <a:rect l="l" t="t" r="r" b="b"/>
            <a:pathLst>
              <a:path w="8074127" h="4824190">
                <a:moveTo>
                  <a:pt x="0" y="0"/>
                </a:moveTo>
                <a:lnTo>
                  <a:pt x="8074128" y="0"/>
                </a:lnTo>
                <a:lnTo>
                  <a:pt x="8074128" y="4824190"/>
                </a:lnTo>
                <a:lnTo>
                  <a:pt x="0" y="4824190"/>
                </a:lnTo>
                <a:lnTo>
                  <a:pt x="0" y="0"/>
                </a:lnTo>
                <a:close/>
              </a:path>
            </a:pathLst>
          </a:custGeom>
          <a:blipFill>
            <a:blip r:embed="rId7"/>
            <a:stretch>
              <a:fillRect/>
            </a:stretch>
          </a:blipFill>
        </p:spPr>
        <p:txBody>
          <a:bodyPr/>
          <a:lstStyle/>
          <a:p>
            <a:endParaRPr lang="en-PH"/>
          </a:p>
        </p:txBody>
      </p:sp>
      <p:sp>
        <p:nvSpPr>
          <p:cNvPr id="15" name="TextBox 11">
            <a:extLst>
              <a:ext uri="{FF2B5EF4-FFF2-40B4-BE49-F238E27FC236}">
                <a16:creationId xmlns:a16="http://schemas.microsoft.com/office/drawing/2014/main" id="{07D9D8CE-89A9-9AEB-D977-2D56C58AF734}"/>
              </a:ext>
            </a:extLst>
          </p:cNvPr>
          <p:cNvSpPr txBox="1"/>
          <p:nvPr/>
        </p:nvSpPr>
        <p:spPr>
          <a:xfrm>
            <a:off x="4442421" y="2274512"/>
            <a:ext cx="10591800" cy="377026"/>
          </a:xfrm>
          <a:prstGeom prst="rect">
            <a:avLst/>
          </a:prstGeom>
        </p:spPr>
        <p:txBody>
          <a:bodyPr wrap="square" lIns="0" tIns="0" rIns="0" bIns="0" rtlCol="0" anchor="t">
            <a:spAutoFit/>
          </a:bodyPr>
          <a:lstStyle/>
          <a:p>
            <a:pPr algn="ctr">
              <a:lnSpc>
                <a:spcPts val="2800"/>
              </a:lnSpc>
            </a:pPr>
            <a:r>
              <a:rPr lang="en-US" sz="2800" b="1" dirty="0">
                <a:solidFill>
                  <a:srgbClr val="FFFFFF"/>
                </a:solidFill>
                <a:latin typeface="TT Norms Bold"/>
                <a:ea typeface="TT Norms Bold"/>
                <a:cs typeface="TT Norms Bold"/>
                <a:sym typeface="TT Norms Bold"/>
              </a:rPr>
              <a:t>Comparison of Clustering Algorithms</a:t>
            </a:r>
          </a:p>
        </p:txBody>
      </p:sp>
    </p:spTree>
    <p:extLst>
      <p:ext uri="{BB962C8B-B14F-4D97-AF65-F5344CB8AC3E}">
        <p14:creationId xmlns:p14="http://schemas.microsoft.com/office/powerpoint/2010/main" val="1889639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txBody>
            <a:bodyPr/>
            <a:lstStyle/>
            <a:p>
              <a:endParaRPr lang="en-PH"/>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Freeform 9"/>
          <p:cNvSpPr/>
          <p:nvPr/>
        </p:nvSpPr>
        <p:spPr>
          <a:xfrm>
            <a:off x="5594739" y="1594239"/>
            <a:ext cx="7098522" cy="7098522"/>
          </a:xfrm>
          <a:custGeom>
            <a:avLst/>
            <a:gdLst/>
            <a:ahLst/>
            <a:cxnLst/>
            <a:rect l="l" t="t" r="r" b="b"/>
            <a:pathLst>
              <a:path w="7098522" h="7098522">
                <a:moveTo>
                  <a:pt x="0" y="0"/>
                </a:moveTo>
                <a:lnTo>
                  <a:pt x="7098522" y="0"/>
                </a:lnTo>
                <a:lnTo>
                  <a:pt x="7098522" y="7098522"/>
                </a:lnTo>
                <a:lnTo>
                  <a:pt x="0" y="7098522"/>
                </a:lnTo>
                <a:lnTo>
                  <a:pt x="0" y="0"/>
                </a:lnTo>
                <a:close/>
              </a:path>
            </a:pathLst>
          </a:custGeom>
          <a:blipFill>
            <a:blip r:embed="rId7">
              <a:alphaModFix amt="34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10" name="Freeform 10"/>
          <p:cNvSpPr/>
          <p:nvPr/>
        </p:nvSpPr>
        <p:spPr>
          <a:xfrm>
            <a:off x="2846977" y="2634266"/>
            <a:ext cx="12864064" cy="3245424"/>
          </a:xfrm>
          <a:custGeom>
            <a:avLst/>
            <a:gdLst/>
            <a:ahLst/>
            <a:cxnLst/>
            <a:rect l="l" t="t" r="r" b="b"/>
            <a:pathLst>
              <a:path w="10212431" h="2795582">
                <a:moveTo>
                  <a:pt x="0" y="0"/>
                </a:moveTo>
                <a:lnTo>
                  <a:pt x="10212431" y="0"/>
                </a:lnTo>
                <a:lnTo>
                  <a:pt x="10212431" y="2795582"/>
                </a:lnTo>
                <a:lnTo>
                  <a:pt x="0" y="2795582"/>
                </a:lnTo>
                <a:lnTo>
                  <a:pt x="0" y="0"/>
                </a:lnTo>
                <a:close/>
              </a:path>
            </a:pathLst>
          </a:custGeom>
          <a:blipFill>
            <a:blip r:embed="rId9"/>
            <a:stretch>
              <a:fillRect/>
            </a:stretch>
          </a:blipFill>
        </p:spPr>
        <p:txBody>
          <a:bodyPr/>
          <a:lstStyle/>
          <a:p>
            <a:endParaRPr lang="en-PH"/>
          </a:p>
        </p:txBody>
      </p:sp>
      <p:sp>
        <p:nvSpPr>
          <p:cNvPr id="11" name="Freeform 11"/>
          <p:cNvSpPr/>
          <p:nvPr/>
        </p:nvSpPr>
        <p:spPr>
          <a:xfrm>
            <a:off x="4587310" y="6782601"/>
            <a:ext cx="9113376" cy="3172260"/>
          </a:xfrm>
          <a:custGeom>
            <a:avLst/>
            <a:gdLst/>
            <a:ahLst/>
            <a:cxnLst/>
            <a:rect l="l" t="t" r="r" b="b"/>
            <a:pathLst>
              <a:path w="10212431" h="3753069">
                <a:moveTo>
                  <a:pt x="0" y="0"/>
                </a:moveTo>
                <a:lnTo>
                  <a:pt x="10212431" y="0"/>
                </a:lnTo>
                <a:lnTo>
                  <a:pt x="10212431" y="3753069"/>
                </a:lnTo>
                <a:lnTo>
                  <a:pt x="0" y="3753069"/>
                </a:lnTo>
                <a:lnTo>
                  <a:pt x="0" y="0"/>
                </a:lnTo>
                <a:close/>
              </a:path>
            </a:pathLst>
          </a:custGeom>
          <a:blipFill>
            <a:blip r:embed="rId10"/>
            <a:stretch>
              <a:fillRect/>
            </a:stretch>
          </a:blipFill>
        </p:spPr>
        <p:txBody>
          <a:bodyPr/>
          <a:lstStyle/>
          <a:p>
            <a:endParaRPr lang="en-PH"/>
          </a:p>
        </p:txBody>
      </p:sp>
      <p:sp>
        <p:nvSpPr>
          <p:cNvPr id="12" name="TextBox 12"/>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INTRODUCTION</a:t>
            </a:r>
          </a:p>
        </p:txBody>
      </p:sp>
      <p:sp>
        <p:nvSpPr>
          <p:cNvPr id="13" name="TextBox 13"/>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METHODOLOGY</a:t>
            </a:r>
          </a:p>
        </p:txBody>
      </p:sp>
      <p:sp>
        <p:nvSpPr>
          <p:cNvPr id="14" name="TextBox 14"/>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b="1" dirty="0">
                <a:solidFill>
                  <a:srgbClr val="FFFFFF"/>
                </a:solidFill>
                <a:latin typeface="TT Norms Bold"/>
                <a:ea typeface="TT Norms Bold"/>
                <a:cs typeface="TT Norms Bold"/>
                <a:sym typeface="TT Norms Bold"/>
              </a:rPr>
              <a:t>RESULTS AND DISCUSSION</a:t>
            </a:r>
          </a:p>
        </p:txBody>
      </p:sp>
      <p:sp>
        <p:nvSpPr>
          <p:cNvPr id="15" name="TextBox 15"/>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CONCLUSION</a:t>
            </a:r>
          </a:p>
        </p:txBody>
      </p:sp>
      <p:sp>
        <p:nvSpPr>
          <p:cNvPr id="16" name="TextBox 11">
            <a:extLst>
              <a:ext uri="{FF2B5EF4-FFF2-40B4-BE49-F238E27FC236}">
                <a16:creationId xmlns:a16="http://schemas.microsoft.com/office/drawing/2014/main" id="{FA246CE3-7409-8E36-3103-99839CFAD3C2}"/>
              </a:ext>
            </a:extLst>
          </p:cNvPr>
          <p:cNvSpPr txBox="1"/>
          <p:nvPr/>
        </p:nvSpPr>
        <p:spPr>
          <a:xfrm>
            <a:off x="5612458" y="2151768"/>
            <a:ext cx="7646341" cy="377026"/>
          </a:xfrm>
          <a:prstGeom prst="rect">
            <a:avLst/>
          </a:prstGeom>
        </p:spPr>
        <p:txBody>
          <a:bodyPr wrap="square" lIns="0" tIns="0" rIns="0" bIns="0" rtlCol="0" anchor="t">
            <a:spAutoFit/>
          </a:bodyPr>
          <a:lstStyle/>
          <a:p>
            <a:pPr algn="ctr">
              <a:lnSpc>
                <a:spcPts val="2800"/>
              </a:lnSpc>
            </a:pPr>
            <a:r>
              <a:rPr lang="en-US" sz="2800" b="1" dirty="0">
                <a:solidFill>
                  <a:srgbClr val="FFFFFF"/>
                </a:solidFill>
                <a:latin typeface="TT Norms Bold"/>
                <a:ea typeface="TT Norms Bold"/>
                <a:cs typeface="TT Norms Bold"/>
                <a:sym typeface="TT Norms Bold"/>
              </a:rPr>
              <a:t>Evaluation Metrics of Clustering Algorithms</a:t>
            </a:r>
          </a:p>
        </p:txBody>
      </p:sp>
      <p:sp>
        <p:nvSpPr>
          <p:cNvPr id="17" name="TextBox 11">
            <a:extLst>
              <a:ext uri="{FF2B5EF4-FFF2-40B4-BE49-F238E27FC236}">
                <a16:creationId xmlns:a16="http://schemas.microsoft.com/office/drawing/2014/main" id="{B96A1139-281D-1CA7-D34A-3D6D2F6C0F15}"/>
              </a:ext>
            </a:extLst>
          </p:cNvPr>
          <p:cNvSpPr txBox="1"/>
          <p:nvPr/>
        </p:nvSpPr>
        <p:spPr>
          <a:xfrm>
            <a:off x="4344474" y="6205920"/>
            <a:ext cx="9524431" cy="377026"/>
          </a:xfrm>
          <a:prstGeom prst="rect">
            <a:avLst/>
          </a:prstGeom>
        </p:spPr>
        <p:txBody>
          <a:bodyPr wrap="square" lIns="0" tIns="0" rIns="0" bIns="0" rtlCol="0" anchor="t">
            <a:spAutoFit/>
          </a:bodyPr>
          <a:lstStyle/>
          <a:p>
            <a:pPr algn="ctr">
              <a:lnSpc>
                <a:spcPts val="2800"/>
              </a:lnSpc>
            </a:pPr>
            <a:r>
              <a:rPr lang="en-US" sz="2800" b="1" dirty="0">
                <a:solidFill>
                  <a:srgbClr val="FFFFFF"/>
                </a:solidFill>
                <a:latin typeface="TT Norms Bold"/>
                <a:ea typeface="TT Norms Bold"/>
                <a:cs typeface="TT Norms Bold"/>
                <a:sym typeface="TT Norms Bold"/>
              </a:rPr>
              <a:t>Validation Metrics For The Best Cluster Against Genres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PH"/>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txBody>
            <a:bodyPr/>
            <a:lstStyle/>
            <a:p>
              <a:endParaRPr lang="en-PH" dirty="0"/>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8" name="AutoShape 8"/>
          <p:cNvSpPr/>
          <p:nvPr/>
        </p:nvSpPr>
        <p:spPr>
          <a:xfrm>
            <a:off x="2761887" y="1747331"/>
            <a:ext cx="12764226" cy="0"/>
          </a:xfrm>
          <a:prstGeom prst="line">
            <a:avLst/>
          </a:prstGeom>
          <a:ln w="19050" cap="flat">
            <a:solidFill>
              <a:srgbClr val="FFFFFF"/>
            </a:solidFill>
            <a:prstDash val="solid"/>
            <a:headEnd type="none" w="sm" len="sm"/>
            <a:tailEnd type="none" w="sm" len="sm"/>
          </a:ln>
        </p:spPr>
        <p:txBody>
          <a:bodyPr/>
          <a:lstStyle/>
          <a:p>
            <a:endParaRPr lang="en-PH"/>
          </a:p>
        </p:txBody>
      </p:sp>
      <p:sp>
        <p:nvSpPr>
          <p:cNvPr id="9" name="TextBox 9"/>
          <p:cNvSpPr txBox="1"/>
          <p:nvPr/>
        </p:nvSpPr>
        <p:spPr>
          <a:xfrm>
            <a:off x="3278179" y="915584"/>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INTRODUCTION</a:t>
            </a:r>
          </a:p>
        </p:txBody>
      </p:sp>
      <p:sp>
        <p:nvSpPr>
          <p:cNvPr id="10" name="TextBox 10"/>
          <p:cNvSpPr txBox="1"/>
          <p:nvPr/>
        </p:nvSpPr>
        <p:spPr>
          <a:xfrm>
            <a:off x="6211089" y="918759"/>
            <a:ext cx="2132590"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METHODOLOGY</a:t>
            </a:r>
          </a:p>
        </p:txBody>
      </p:sp>
      <p:sp>
        <p:nvSpPr>
          <p:cNvPr id="11" name="TextBox 11"/>
          <p:cNvSpPr txBox="1"/>
          <p:nvPr/>
        </p:nvSpPr>
        <p:spPr>
          <a:xfrm>
            <a:off x="9144000" y="915584"/>
            <a:ext cx="3549261" cy="349250"/>
          </a:xfrm>
          <a:prstGeom prst="rect">
            <a:avLst/>
          </a:prstGeom>
        </p:spPr>
        <p:txBody>
          <a:bodyPr lIns="0" tIns="0" rIns="0" bIns="0" rtlCol="0" anchor="t">
            <a:spAutoFit/>
          </a:bodyPr>
          <a:lstStyle/>
          <a:p>
            <a:pPr algn="ctr">
              <a:lnSpc>
                <a:spcPts val="2800"/>
              </a:lnSpc>
            </a:pPr>
            <a:r>
              <a:rPr lang="en-US" sz="2000">
                <a:solidFill>
                  <a:srgbClr val="FFFFFF"/>
                </a:solidFill>
                <a:latin typeface="TT Norms"/>
                <a:ea typeface="TT Norms"/>
                <a:cs typeface="TT Norms"/>
                <a:sym typeface="TT Norms"/>
              </a:rPr>
              <a:t>RESULTS AND DISCUSSION</a:t>
            </a:r>
          </a:p>
        </p:txBody>
      </p:sp>
      <p:sp>
        <p:nvSpPr>
          <p:cNvPr id="12" name="TextBox 12"/>
          <p:cNvSpPr txBox="1"/>
          <p:nvPr/>
        </p:nvSpPr>
        <p:spPr>
          <a:xfrm>
            <a:off x="13493361" y="915584"/>
            <a:ext cx="2132590" cy="349250"/>
          </a:xfrm>
          <a:prstGeom prst="rect">
            <a:avLst/>
          </a:prstGeom>
        </p:spPr>
        <p:txBody>
          <a:bodyPr lIns="0" tIns="0" rIns="0" bIns="0" rtlCol="0" anchor="t">
            <a:spAutoFit/>
          </a:bodyPr>
          <a:lstStyle/>
          <a:p>
            <a:pPr algn="ctr">
              <a:lnSpc>
                <a:spcPts val="2800"/>
              </a:lnSpc>
            </a:pPr>
            <a:r>
              <a:rPr lang="en-US" sz="2000" b="1">
                <a:solidFill>
                  <a:srgbClr val="FFFFFF"/>
                </a:solidFill>
                <a:latin typeface="TT Norms Bold"/>
                <a:ea typeface="TT Norms Bold"/>
                <a:cs typeface="TT Norms Bold"/>
                <a:sym typeface="TT Norms Bold"/>
              </a:rPr>
              <a:t>CONCLUSION</a:t>
            </a:r>
          </a:p>
        </p:txBody>
      </p:sp>
      <p:sp>
        <p:nvSpPr>
          <p:cNvPr id="13" name="TextBox 7">
            <a:extLst>
              <a:ext uri="{FF2B5EF4-FFF2-40B4-BE49-F238E27FC236}">
                <a16:creationId xmlns:a16="http://schemas.microsoft.com/office/drawing/2014/main" id="{B2C88002-7388-5D2E-ADE6-2209B268D3B7}"/>
              </a:ext>
            </a:extLst>
          </p:cNvPr>
          <p:cNvSpPr txBox="1"/>
          <p:nvPr/>
        </p:nvSpPr>
        <p:spPr>
          <a:xfrm>
            <a:off x="2278623" y="3012165"/>
            <a:ext cx="13730749" cy="4880567"/>
          </a:xfrm>
          <a:prstGeom prst="rect">
            <a:avLst/>
          </a:prstGeom>
        </p:spPr>
        <p:txBody>
          <a:bodyPr lIns="0" tIns="0" rIns="0" bIns="0" rtlCol="0" anchor="t">
            <a:spAutoFit/>
          </a:bodyPr>
          <a:lstStyle/>
          <a:p>
            <a:pPr algn="ctr">
              <a:lnSpc>
                <a:spcPts val="7840"/>
              </a:lnSpc>
            </a:pPr>
            <a:r>
              <a:rPr lang="en-US" sz="3600" b="1" dirty="0">
                <a:solidFill>
                  <a:srgbClr val="FFFFFF"/>
                </a:solidFill>
                <a:latin typeface="Poppins Bold"/>
                <a:ea typeface="Poppins Bold"/>
                <a:cs typeface="Poppins Bold"/>
                <a:sym typeface="Poppins Bold"/>
              </a:rPr>
              <a:t>Based on the study, it can be concluded that mapping on  clusters is not an effective tool in predicting genres on TV show posters. However, machine learning using PCA and clustering algorithms can give patterns that are useful  for trend and market analysis.</a:t>
            </a:r>
          </a:p>
        </p:txBody>
      </p:sp>
      <p:sp>
        <p:nvSpPr>
          <p:cNvPr id="14" name="TextBox 11">
            <a:extLst>
              <a:ext uri="{FF2B5EF4-FFF2-40B4-BE49-F238E27FC236}">
                <a16:creationId xmlns:a16="http://schemas.microsoft.com/office/drawing/2014/main" id="{A95DDE45-2C7C-735E-D969-8CF6B44C1CA3}"/>
              </a:ext>
            </a:extLst>
          </p:cNvPr>
          <p:cNvSpPr txBox="1"/>
          <p:nvPr/>
        </p:nvSpPr>
        <p:spPr>
          <a:xfrm>
            <a:off x="5646832" y="2326583"/>
            <a:ext cx="6994330" cy="453970"/>
          </a:xfrm>
          <a:prstGeom prst="rect">
            <a:avLst/>
          </a:prstGeom>
        </p:spPr>
        <p:txBody>
          <a:bodyPr wrap="square" lIns="0" tIns="0" rIns="0" bIns="0" rtlCol="0" anchor="t">
            <a:spAutoFit/>
          </a:bodyPr>
          <a:lstStyle/>
          <a:p>
            <a:pPr algn="ctr">
              <a:lnSpc>
                <a:spcPts val="2800"/>
              </a:lnSpc>
            </a:pPr>
            <a:r>
              <a:rPr lang="en-US" sz="4800" b="1" dirty="0">
                <a:solidFill>
                  <a:srgbClr val="FFFFFF"/>
                </a:solidFill>
                <a:latin typeface="TT Norms Bold"/>
                <a:ea typeface="TT Norms Bold"/>
                <a:cs typeface="TT Norms Bold"/>
                <a:sym typeface="TT Norms Bold"/>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303</Words>
  <Application>Microsoft Office PowerPoint</Application>
  <PresentationFormat>Custom</PresentationFormat>
  <Paragraphs>50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Calibri</vt:lpstr>
      <vt:lpstr>TT Norms</vt:lpstr>
      <vt:lpstr>Didact Gothic</vt:lpstr>
      <vt:lpstr>Arimo Italics</vt:lpstr>
      <vt:lpstr>Arial</vt:lpstr>
      <vt:lpstr>Poppins Bold</vt:lpstr>
      <vt:lpstr>TT Norms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2 Finals</dc:title>
  <cp:lastModifiedBy>Odarve, Renaire</cp:lastModifiedBy>
  <cp:revision>2</cp:revision>
  <dcterms:created xsi:type="dcterms:W3CDTF">2006-08-16T00:00:00Z</dcterms:created>
  <dcterms:modified xsi:type="dcterms:W3CDTF">2025-02-24T04:01:54Z</dcterms:modified>
  <dc:identifier>DAGf9hnA-xY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2025-02-24T04:01:53Z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712711cb-a278-4416-9f3b-4c359bc32c74</vt:lpwstr>
  </property>
  <property fmtid="{D5CDD505-2E9C-101B-9397-08002B2CF9AE}" pid="8" name="MSIP_Label_8a813f4b-519a-4481-a498-85770f517757_ContentBits">
    <vt:lpwstr>0</vt:lpwstr>
  </property>
  <property fmtid="{D5CDD505-2E9C-101B-9397-08002B2CF9AE}" pid="9" name="MSIP_Label_8a813f4b-519a-4481-a498-85770f517757_Tag">
    <vt:lpwstr>10, 3, 0, 1</vt:lpwstr>
  </property>
</Properties>
</file>